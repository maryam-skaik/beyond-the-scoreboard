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.jpe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23215"/>
            <a:ext cx="9799320" cy="962025"/>
          </a:xfrm>
        </p:spPr>
        <p:txBody>
          <a:bodyPr>
            <a:normAutofit fontScale="90000"/>
          </a:bodyPr>
          <a:p>
            <a:r>
              <a:rPr lang="en-US" altLang="en-US">
                <a:solidFill>
                  <a:srgbClr val="002060"/>
                </a:solidFill>
              </a:rPr>
              <a:t>Beyond the Scoreboard</a:t>
            </a:r>
            <a:endParaRPr lang="en-US" altLang="en-US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 l="3970"/>
          <a:stretch>
            <a:fillRect/>
          </a:stretch>
        </p:blipFill>
        <p:spPr>
          <a:xfrm>
            <a:off x="1351280" y="1377950"/>
            <a:ext cx="9494520" cy="3919855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96340" y="5390515"/>
            <a:ext cx="9799320" cy="13112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Fans are not all the same</a:t>
            </a:r>
            <a:r>
              <a:rPr lang="en-US" altLang="en-US" sz="23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en-US" sz="23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🛒 </a:t>
            </a:r>
            <a:r>
              <a:rPr lang="en-US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| </a:t>
            </a:r>
            <a:r>
              <a:rPr lang="zh-CN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📱 </a:t>
            </a:r>
            <a:r>
              <a:rPr lang="en-US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 | </a:t>
            </a:r>
            <a:r>
              <a:rPr lang="zh-CN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🎟 </a:t>
            </a:r>
            <a:r>
              <a:rPr lang="en-US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Attendance | </a:t>
            </a:r>
            <a:r>
              <a:rPr lang="zh-CN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📺 </a:t>
            </a:r>
            <a:r>
              <a:rPr lang="en-US" altLang="en-US" sz="21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Viewing Habits</a:t>
            </a:r>
            <a:endParaRPr lang="en-US" altLang="en-US" sz="21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Approach</a:t>
            </a:r>
            <a:endParaRPr lang="en-US" altLang="en-US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ontent Placeholder 9"/>
          <p:cNvGraphicFramePr/>
          <p:nvPr>
            <p:ph idx="1"/>
            <p:custDataLst>
              <p:tags r:id="rId2"/>
            </p:custDataLst>
          </p:nvPr>
        </p:nvGraphicFramePr>
        <p:xfrm>
          <a:off x="2197100" y="1859280"/>
          <a:ext cx="7791450" cy="3536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725"/>
                <a:gridCol w="3895725"/>
              </a:tblGrid>
              <a:tr h="444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Approach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38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👥 2,200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Fans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 Data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🌍 15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Countries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38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⚽ 26 Sports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Selection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4500"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4500">
                <a:tc vMerge="1"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43865">
                <a:tc vMerge="1"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26720">
                <a:tc vMerge="1"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Fan Segments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2060"/>
                </a:solidFill>
              </a:rPr>
              <a:t>What the Data Revealed</a:t>
            </a:r>
            <a:endParaRPr lang="en-US" altLang="en-US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73200"/>
            <a:ext cx="10968990" cy="4446905"/>
          </a:xfrm>
        </p:spPr>
        <p:txBody>
          <a:bodyPr/>
          <a:p>
            <a:pPr marL="0" indent="0" algn="ctr">
              <a:buNone/>
            </a:pPr>
            <a:endParaRPr lang="en-US" altLang="en-US" sz="220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altLang="en-US" sz="2200">
                <a:solidFill>
                  <a:srgbClr val="002060"/>
                </a:solidFill>
              </a:rPr>
              <a:t>5 Behavioral Clusters → Grouped into 3 Fan Personas</a:t>
            </a:r>
            <a:endParaRPr lang="en-US" altLang="en-US" sz="220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altLang="en-US" sz="220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28800" y="3124835"/>
          <a:ext cx="8534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🏆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Premium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📱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Digital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⚽ Casual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Spending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Engagement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Occasional Engagement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Loyalty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Event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Attendance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Event-Driven </a:t>
                      </a:r>
                      <a:r>
                        <a:rPr lang="en-US" altLang="en-US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Participation</a:t>
                      </a:r>
                      <a:endParaRPr lang="en-US" altLang="en-US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This Matters in Real Life</a:t>
            </a:r>
            <a:endParaRPr lang="en-US" altLang="en-US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benefits: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🏟 </a:t>
            </a: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Sports organizations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📺 </a:t>
            </a: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Streaming platforms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🎯 </a:t>
            </a: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teams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🎪 </a:t>
            </a: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organizers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zh-CN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👕 </a:t>
            </a:r>
            <a:r>
              <a:rPr lang="en-US" altLang="en-US"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Sports brands</a:t>
            </a:r>
            <a:endParaRPr lang="en-US" altLang="en-US" sz="2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2060"/>
                </a:solidFill>
              </a:rPr>
              <a:t>One Event. Many Types of Fans.</a:t>
            </a:r>
            <a:endParaRPr lang="en-US" altLang="en-US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/>
          <p:nvPr>
            <p:ph idx="1"/>
            <p:custDataLst>
              <p:tags r:id="rId2"/>
            </p:custDataLst>
          </p:nvPr>
        </p:nvPicPr>
        <p:blipFill>
          <a:blip r:embed="rId3"/>
          <a:srcRect t="28306" b="28306"/>
          <a:stretch>
            <a:fillRect/>
          </a:stretch>
        </p:blipFill>
        <p:spPr>
          <a:xfrm>
            <a:off x="1674495" y="1666240"/>
            <a:ext cx="8836025" cy="3199130"/>
          </a:xfrm>
        </p:spPr>
      </p:pic>
      <p:sp>
        <p:nvSpPr>
          <p:cNvPr id="5" name="Text Box 4"/>
          <p:cNvSpPr txBox="1"/>
          <p:nvPr/>
        </p:nvSpPr>
        <p:spPr>
          <a:xfrm>
            <a:off x="962025" y="523684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200">
                <a:solidFill>
                  <a:srgbClr val="002060"/>
                </a:solidFill>
              </a:rPr>
              <a:t>Before Data Science: </a:t>
            </a:r>
            <a:endParaRPr lang="en-US" altLang="en-US" sz="2200">
              <a:solidFill>
                <a:srgbClr val="002060"/>
              </a:solidFill>
            </a:endParaRPr>
          </a:p>
          <a:p>
            <a:pPr algn="ctr"/>
            <a:r>
              <a:rPr lang="zh-CN" altLang="en-US" sz="2200">
                <a:solidFill>
                  <a:srgbClr val="002060"/>
                </a:solidFill>
              </a:rPr>
              <a:t>👥 </a:t>
            </a:r>
            <a:r>
              <a:rPr lang="en-US" altLang="en-US" sz="2200">
                <a:solidFill>
                  <a:srgbClr val="002060"/>
                </a:solidFill>
              </a:rPr>
              <a:t>A Crowd</a:t>
            </a:r>
            <a:endParaRPr lang="en-US" altLang="en-US" sz="2200">
              <a:solidFill>
                <a:srgbClr val="00206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010400" y="523684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200">
                <a:solidFill>
                  <a:srgbClr val="002060"/>
                </a:solidFill>
              </a:rPr>
              <a:t>After Data Science:</a:t>
            </a:r>
            <a:endParaRPr lang="en-US" altLang="en-US" sz="2200">
              <a:solidFill>
                <a:srgbClr val="002060"/>
              </a:solidFill>
            </a:endParaRPr>
          </a:p>
          <a:p>
            <a:pPr algn="ctr"/>
            <a:r>
              <a:rPr lang="zh-CN" altLang="en-US" sz="2200">
                <a:solidFill>
                  <a:srgbClr val="002060"/>
                </a:solidFill>
              </a:rPr>
              <a:t>👥 → 🏆 📱 ⚽</a:t>
            </a:r>
            <a:endParaRPr lang="zh-CN" altLang="en-US" sz="2200">
              <a:solidFill>
                <a:srgbClr val="00206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613*278"/>
  <p:tag name="TABLE_ENDDRAG_RECT" val="125*142*613*27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WPS Presentation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等线</vt:lpstr>
      <vt:lpstr>Cabin Sketch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Scoreboard</dc:title>
  <dc:creator>Maryam</dc:creator>
  <cp:lastModifiedBy>Maryam Skaik</cp:lastModifiedBy>
  <cp:revision>8</cp:revision>
  <dcterms:created xsi:type="dcterms:W3CDTF">2026-06-20T16:33:19Z</dcterms:created>
  <dcterms:modified xsi:type="dcterms:W3CDTF">2026-06-20T17:05:35Z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A1303CD7CD0F46B08809EEB9223C0345_11</vt:lpwstr>
  </property>
</Properties>
</file>